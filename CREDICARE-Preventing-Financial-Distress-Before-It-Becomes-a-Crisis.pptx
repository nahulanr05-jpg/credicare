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304455"/>
            <a:ext cx="6296860" cy="1474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CREDICARE :</a:t>
            </a:r>
            <a:endParaRPr lang="en-US" sz="2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Preventing Financial Distress Before It Becomes a Crisis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4062214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banks identify early warning signs and help customers avoid debt, defaults, and financial exclusion.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728166"/>
            <a:ext cx="6296860" cy="105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Hidden Crisis: 90% Show Warning Signs 90 Days Early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738272" y="2200870"/>
            <a:ext cx="244538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Predictable, Not Inevitable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738272" y="2868414"/>
            <a:ext cx="2445383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defaults are predictable — but banks react instead of prevent.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38272" y="3786981"/>
            <a:ext cx="244538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Reactive Recovery Costs More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738272" y="4454525"/>
            <a:ext cx="2445383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Reactive recovery loses </a:t>
            </a:r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40–60%</a:t>
            </a:r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loan value after the fact.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38272" y="5176838"/>
            <a:ext cx="2445383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Early Intervention Works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738272" y="5580360"/>
            <a:ext cx="2445383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Early action stabilizes </a:t>
            </a:r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85%</a:t>
            </a:r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at-risk customers before crisis hits.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75" y="2150170"/>
            <a:ext cx="2950295" cy="26862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86275" y="4993382"/>
            <a:ext cx="2950295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Prevention costs </a:t>
            </a:r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10x less</a:t>
            </a:r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than reactive recovery — the math is undeniable.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436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Four Early Warning Signals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46647"/>
            <a:ext cx="5339820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9531" y="1954709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499" y="2110680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9531" y="2710755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Spending Volatility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9531" y="3131245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Sudden spikes in discretionary purchases signal loss of financial control.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746647"/>
            <a:ext cx="5339919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98358" y="1954709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26" y="2110680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98358" y="2710755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Savings Collapse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98358" y="3131245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Emergency fund depleting rapidly leaves customers dangerously exposed.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19649"/>
            <a:ext cx="5339820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9531" y="4227711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499" y="4383683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9531" y="4983758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Debt Acceleration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69531" y="5404247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Multiple new borrowing requests in quick succession signal deepening stress.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19649"/>
            <a:ext cx="5339919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98358" y="4227711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4326" y="4383683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98358" y="4983758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Payment Stress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98358" y="5404247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Missed or late EMI payments are the clearest signal that crisis is near.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071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b="1" spc="-6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Health Score: Real-Time Risk Detection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85887"/>
            <a:ext cx="5243481" cy="377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369715"/>
            <a:ext cx="524348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One Dashboard. Total Visibility.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3089" y="1753592"/>
            <a:ext cx="5243481" cy="86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Financial Health Score tracks income, expenses, debt, and credit behavior in real time — giving banks and customers a unified picture of financial wellness.</a:t>
            </a:r>
            <a:endParaRPr lang="en-US" sz="1200" dirty="0"/>
          </a:p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</a:t>
            </a:r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90-day forecast</a:t>
            </a:r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catches problems before they compound.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51773"/>
            <a:ext cx="2620004" cy="869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3187" y="5627291"/>
            <a:ext cx="21927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2150FE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Healthy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80–100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3187" y="5959277"/>
            <a:ext cx="21927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track, low risk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1055" y="5451773"/>
            <a:ext cx="2620004" cy="869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62767" y="5627291"/>
            <a:ext cx="21927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04318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Watch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60–79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3662767" y="5959277"/>
            <a:ext cx="21927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Early drift detected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0636" y="5451773"/>
            <a:ext cx="2620004" cy="869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12347" y="5627291"/>
            <a:ext cx="21927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Stress 40–59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12347" y="5959277"/>
            <a:ext cx="21927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Intervention needed now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0216" y="5451773"/>
            <a:ext cx="2620004" cy="869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61928" y="5627291"/>
            <a:ext cx="21927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Critical 0–39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161928" y="5959277"/>
            <a:ext cx="21927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Crisis imminent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86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From "No" to "Ready": Personalized Roadmaps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50603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Turning Rejection Into a Plan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46697"/>
            <a:ext cx="520379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explainable readiness engine reveals the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exact barriers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holding customers back — high DTI, low savings, excess debt load — and converts them into actionable milestones.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053755"/>
            <a:ext cx="5203794" cy="136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30-60-90 day improvement milestones with measurable actions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Customers see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path to financial readiness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not just rejection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step is tracked, adjusted, and celebrated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1674217"/>
            <a:ext cx="5203794" cy="37458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2776" y="5632648"/>
            <a:ext cx="520379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Structured intervention shows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measurable improvement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across every 30-day window.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88665"/>
            <a:ext cx="6296860" cy="45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spc="-5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Invisible Expenses: ₹70K Annual Leak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3360" y="1262063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spc="-7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₹43,800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233360" y="1865908"/>
            <a:ext cx="6296860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Daily Coffee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3360" y="2152551"/>
            <a:ext cx="629686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₹120/day adds up to a staggering annual drain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33360" y="2582168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spc="-7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₹8,388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233360" y="3186013"/>
            <a:ext cx="6296860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Streaming Subs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3360" y="3472656"/>
            <a:ext cx="629686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₹699/month in subscriptions quietly compounds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3360" y="3902273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spc="-7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₹18,000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233360" y="4506119"/>
            <a:ext cx="6296860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Impulse Buys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33360" y="4792762"/>
            <a:ext cx="629686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₹1,500/month in unplanned purchases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33360" y="5222379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spc="-7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₹70,188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233360" y="5826224"/>
            <a:ext cx="6296860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 Annual Leak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233360" y="6112867"/>
            <a:ext cx="629686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Enough to prevent one default entirely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463"/>
            <a:ext cx="10868745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spc="-6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Adaptive Debt Recovery: 30 Months vs 40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1384"/>
            <a:ext cx="5221851" cy="3758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4719" y="1531342"/>
            <a:ext cx="522185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 All Payoff Plans Are Equal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14719" y="1995091"/>
            <a:ext cx="2530610" cy="1700609"/>
          </a:xfrm>
          <a:prstGeom prst="roundRect">
            <a:avLst>
              <a:gd name="adj" fmla="val 4303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07992" y="2188369"/>
            <a:ext cx="2144064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❄️</a:t>
            </a:r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Snowball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07992" y="2632075"/>
            <a:ext cx="2144064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40 months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High psychological wins, but slowest and most expensive overall.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005960" y="1995091"/>
            <a:ext cx="2530610" cy="1700609"/>
          </a:xfrm>
          <a:prstGeom prst="roundRect">
            <a:avLst>
              <a:gd name="adj" fmla="val 4303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99233" y="2188369"/>
            <a:ext cx="2144064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🏔️</a:t>
            </a:r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Avalanche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99233" y="2632075"/>
            <a:ext cx="2144064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35 months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Lowest interest cost, requires strict discipline to sustain.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14719" y="3856335"/>
            <a:ext cx="5221851" cy="1265436"/>
          </a:xfrm>
          <a:prstGeom prst="roundRect">
            <a:avLst>
              <a:gd name="adj" fmla="val 5783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992" y="4049613"/>
            <a:ext cx="483530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Adaptive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07992" y="4493320"/>
            <a:ext cx="4835305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30 months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Balances speed and sustainability. The clear winner.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14719" y="5302448"/>
            <a:ext cx="5221851" cy="811411"/>
          </a:xfrm>
          <a:prstGeom prst="roundRect">
            <a:avLst>
              <a:gd name="adj" fmla="val 9020"/>
            </a:avLst>
          </a:prstGeom>
          <a:solidFill>
            <a:srgbClr val="002A8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942" y="5525591"/>
            <a:ext cx="217780" cy="1742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80946" y="5490567"/>
            <a:ext cx="4481400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Adaptive strategy reduces payoff time by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25%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while keeping motivation intact.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26355"/>
            <a:ext cx="6296860" cy="119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spc="-7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What-If Simulation &amp; Emergency Mode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61475" y="2159893"/>
            <a:ext cx="2925094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Virtual Financial Twin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1475" y="2634754"/>
            <a:ext cx="2925094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 any scenario in a risk-free environment before making real decisions: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3497461"/>
            <a:ext cx="2925094" cy="1530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7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"What if my income drops 20%?"</a:t>
            </a:r>
            <a:endParaRPr lang="en-US" sz="1400" dirty="0"/>
          </a:p>
          <a:p>
            <a:pPr algn="l" marL="284480" indent="-284480">
              <a:lnSpc>
                <a:spcPct val="107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"Can I afford this purchase right now?"</a:t>
            </a:r>
            <a:endParaRPr lang="en-US" sz="1400" dirty="0"/>
          </a:p>
          <a:p>
            <a:pPr algn="l" marL="284480" indent="-284480">
              <a:lnSpc>
                <a:spcPct val="107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"How does this loan affect my 90-day outlook?"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39590" y="2159893"/>
            <a:ext cx="292509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Emergency Stabilization Mode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39590" y="2932311"/>
            <a:ext cx="2925094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crisis strikes, a </a:t>
            </a:r>
            <a:pPr algn="l" indent="0" marL="0">
              <a:lnSpc>
                <a:spcPct val="107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48-hour survival plan</a:t>
            </a:r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activates instantly with optimized budget allocation: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1475" y="5289153"/>
            <a:ext cx="6296860" cy="1042491"/>
          </a:xfrm>
          <a:prstGeom prst="roundRect">
            <a:avLst>
              <a:gd name="adj" fmla="val 73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0524" y="5308203"/>
            <a:ext cx="2086220" cy="1004391"/>
          </a:xfrm>
          <a:custGeom>
            <a:avLst/>
            <a:gdLst/>
            <a:ahLst/>
            <a:cxnLst/>
            <a:rect l="l" t="t" r="r" b="b"/>
            <a:pathLst>
              <a:path w="2086220" h="1004391">
                <a:moveTo>
                  <a:pt x="64089" y="0"/>
                </a:moveTo>
                <a:lnTo>
                  <a:pt x="2086220" y="0"/>
                </a:lnTo>
                <a:lnTo>
                  <a:pt x="2086220" y="1004391"/>
                </a:lnTo>
                <a:lnTo>
                  <a:pt x="64089" y="1004391"/>
                </a:lnTo>
                <a:arcTo hR="64091" wR="64089" stAng="5400000" swAng="5400000"/>
                <a:lnTo>
                  <a:pt x="0" y="64091"/>
                </a:lnTo>
                <a:arcTo hR="64091" wR="64089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1" name="Text 8"/>
          <p:cNvSpPr/>
          <p:nvPr/>
        </p:nvSpPr>
        <p:spPr>
          <a:xfrm>
            <a:off x="863578" y="5491262"/>
            <a:ext cx="1720112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62%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3578" y="5895181"/>
            <a:ext cx="1720112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Essentials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66745" y="5308203"/>
            <a:ext cx="2086220" cy="1004391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66745" y="5308203"/>
            <a:ext cx="25399" cy="1004391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5" name="Text 12"/>
          <p:cNvSpPr/>
          <p:nvPr/>
        </p:nvSpPr>
        <p:spPr>
          <a:xfrm>
            <a:off x="2949799" y="5491262"/>
            <a:ext cx="1720112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949799" y="5895181"/>
            <a:ext cx="1720112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Debt Minimums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52965" y="5308203"/>
            <a:ext cx="2086320" cy="1004391"/>
          </a:xfrm>
          <a:custGeom>
            <a:avLst/>
            <a:gdLst/>
            <a:ahLst/>
            <a:cxnLst/>
            <a:rect l="l" t="t" r="r" b="b"/>
            <a:pathLst>
              <a:path w="2086320" h="1004391">
                <a:moveTo>
                  <a:pt x="0" y="0"/>
                </a:moveTo>
                <a:lnTo>
                  <a:pt x="2022231" y="0"/>
                </a:lnTo>
                <a:arcTo hR="64091" wR="64089" stAng="16200000" swAng="5400000"/>
                <a:lnTo>
                  <a:pt x="2086320" y="940301"/>
                </a:lnTo>
                <a:arcTo hR="64091" wR="64089" stAng="0" swAng="5400000"/>
                <a:lnTo>
                  <a:pt x="0" y="1004391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8" name="Shape 15"/>
          <p:cNvSpPr/>
          <p:nvPr/>
        </p:nvSpPr>
        <p:spPr>
          <a:xfrm>
            <a:off x="4852965" y="5308203"/>
            <a:ext cx="25399" cy="1004391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9" name="Text 16"/>
          <p:cNvSpPr/>
          <p:nvPr/>
        </p:nvSpPr>
        <p:spPr>
          <a:xfrm>
            <a:off x="5036019" y="5491262"/>
            <a:ext cx="1720212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36019" y="5895181"/>
            <a:ext cx="1720212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Flexible Spend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377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Impact: Prevention Over Recovery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395477" y="2438202"/>
            <a:ext cx="2034231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spc="-6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85%</a:t>
            </a:r>
            <a:endParaRPr lang="en-US" sz="3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40" y="1404541"/>
            <a:ext cx="2480804" cy="2480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071342"/>
            <a:ext cx="350233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Customers Stabilized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4426942"/>
            <a:ext cx="350233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At-risk customers who recover with early intervention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78682" y="2438202"/>
            <a:ext cx="2034231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spc="-6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60%</a:t>
            </a:r>
            <a:endParaRPr lang="en-US" sz="3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46" y="1404541"/>
            <a:ext cx="2480804" cy="24808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4680" y="4071342"/>
            <a:ext cx="350233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Loss Reduction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344680" y="4426942"/>
            <a:ext cx="350233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Loan value saved vs reactive recovery approach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761888" y="2438202"/>
            <a:ext cx="2034231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spc="-6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10x</a:t>
            </a:r>
            <a:endParaRPr lang="en-US" sz="3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651" y="1404541"/>
            <a:ext cx="2480804" cy="24808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27886" y="4071342"/>
            <a:ext cx="350233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027886" y="4426942"/>
            <a:ext cx="3502334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 customer through prevention vs recovery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61475" y="4992687"/>
            <a:ext cx="3526444" cy="1328837"/>
          </a:xfrm>
          <a:prstGeom prst="roundRect">
            <a:avLst>
              <a:gd name="adj" fmla="val 52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45819" y="5177036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Inclusion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5819" y="5532636"/>
            <a:ext cx="315775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Customers avoid exclusion and build credit responsibly — turning crisis prevention into long-term opportunity.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332576" y="4992687"/>
            <a:ext cx="3526444" cy="1328837"/>
          </a:xfrm>
          <a:prstGeom prst="roundRect">
            <a:avLst>
              <a:gd name="adj" fmla="val 52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16920" y="5177036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Trust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16920" y="5532636"/>
            <a:ext cx="315775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Banks that prevent crises earn loyalty. Proactive care transforms transactional relationships into lifelong partnerships.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003677" y="4992687"/>
            <a:ext cx="3526444" cy="1328837"/>
          </a:xfrm>
          <a:prstGeom prst="roundRect">
            <a:avLst>
              <a:gd name="adj" fmla="val 52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88021" y="5177036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Systemic Resilience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88021" y="5532636"/>
            <a:ext cx="315775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portfolio of financially stable customers means lower NPAs, reduced provisions, and stronger institutional health.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229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Path Forward: See Risk. Act Before Crisis.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04578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Banks that shift from reactive recovery to predictive intervention build customer trust, enable financial stability, and create a safety net that catches people before they fall.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08535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022798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Nahulan Raja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08535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022798"/>
            <a:ext cx="346542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Abhinav 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408535"/>
            <a:ext cx="378014" cy="378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64794" y="3022798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Yashwanth J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61475" y="3797598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Steps: Turn Early Signals Into Lasting Stability</a:t>
            </a:r>
            <a:endParaRPr lang="en-US" sz="2950" dirty="0"/>
          </a:p>
        </p:txBody>
      </p:sp>
      <p:sp>
        <p:nvSpPr>
          <p:cNvPr id="11" name="Text 6"/>
          <p:cNvSpPr/>
          <p:nvPr/>
        </p:nvSpPr>
        <p:spPr>
          <a:xfrm>
            <a:off x="661475" y="4572496"/>
            <a:ext cx="10868745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 risk early and intervene before distress escalates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Protect customer relationships with timely, personalized support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 losses while building a more resilient loan portfolio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5654278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Let’s build a future where prevention becomes the default.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Reach out to explore how early intervention can help your customers stay financially healthy and your institution stay stronger.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2026-09-03T14:49:06Z</dcterms:created>
  <dcterms:modified xsi:type="dcterms:W3CDTF">2026-09-03T14:49:06Z</dcterms:modified>
</cp:coreProperties>
</file>